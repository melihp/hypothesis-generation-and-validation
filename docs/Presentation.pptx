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Urbanist Medium"/>
      <p:regular r:id="rId11"/>
      <p:bold r:id="rId12"/>
      <p:italic r:id="rId13"/>
      <p:boldItalic r:id="rId14"/>
    </p:embeddedFont>
    <p:embeddedFont>
      <p:font typeface="Urbanist SemiBold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  <p:embeddedFont>
      <p:font typeface="Urbanis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font" Target="fonts/UrbanistMedium-regular.fntdata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font" Target="fonts/UrbanistMedium-italic.fntdata"/><Relationship Id="rId24" Type="http://schemas.openxmlformats.org/officeDocument/2006/relationships/font" Target="fonts/UrbanistExtraBold-boldItalic.fntdata"/><Relationship Id="rId12" Type="http://schemas.openxmlformats.org/officeDocument/2006/relationships/font" Target="fonts/UrbanistMedium-bold.fntdata"/><Relationship Id="rId23" Type="http://schemas.openxmlformats.org/officeDocument/2006/relationships/font" Target="fonts/Urbanist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SemiBold-regular.fntdata"/><Relationship Id="rId14" Type="http://schemas.openxmlformats.org/officeDocument/2006/relationships/font" Target="fonts/UrbanistMedium-boldItalic.fntdata"/><Relationship Id="rId17" Type="http://schemas.openxmlformats.org/officeDocument/2006/relationships/font" Target="fonts/UrbanistSemiBold-italic.fntdata"/><Relationship Id="rId16" Type="http://schemas.openxmlformats.org/officeDocument/2006/relationships/font" Target="fonts/Urbanist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font" Target="fonts/Urbanist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13" Type="http://schemas.openxmlformats.org/officeDocument/2006/relationships/image" Target="../media/image1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1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40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19.png"/><Relationship Id="rId7" Type="http://schemas.openxmlformats.org/officeDocument/2006/relationships/image" Target="../media/image35.png"/><Relationship Id="rId8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8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9" Type="http://schemas.openxmlformats.org/officeDocument/2006/relationships/image" Target="../media/image6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0616"/>
            <a:ext cx="5381625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550616"/>
            <a:ext cx="5381625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571500"/>
            <a:ext cx="11601450" cy="96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Yapılandırılmış Sosyal Medya Verisinden </a:t>
            </a:r>
            <a:r>
              <a:rPr b="0" i="0" lang="en-US" sz="3450" u="none" cap="none" strike="noStrike">
                <a:solidFill>
                  <a:srgbClr val="DEFF9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Stratejik İçgörü Üretimi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1630560"/>
            <a:ext cx="904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Sosyal medya verilerinden matematiksel olarak doğrulanmış iş içgörüleri üreten uçtan uca yapay zeka çerçevesi.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7389316"/>
            <a:ext cx="11049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990600" y="7622678"/>
            <a:ext cx="41338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Maliyet Düşüşü: %99 (İçgörü Başına)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886825" y="7579816"/>
            <a:ext cx="235267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905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~$140 ~$0.63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581025" y="2574428"/>
            <a:ext cx="5362575" cy="460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248400" y="2574428"/>
            <a:ext cx="5362575" cy="460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4" name="Google Shape;9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7641728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96475" y="766554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86350" y="2922091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53725" y="2922091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914400" y="2922091"/>
            <a:ext cx="3476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Eski Yöntem: Geleneksel Analiz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3274516"/>
            <a:ext cx="3476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YÜKSEK MALIYET, DÜŞÜK VERIM</a:t>
            </a:r>
            <a:endParaRPr/>
          </a:p>
        </p:txBody>
      </p:sp>
      <p:pic>
        <p:nvPicPr>
          <p:cNvPr descr="image.png" id="100" name="Google Shape;100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62562" y="3069728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1200150" y="3684091"/>
            <a:ext cx="44100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Süreç: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Tamamen manuel, yüksek uzmanlık gerektirir, operasyonel olarak yavaş.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200150" y="4788991"/>
            <a:ext cx="44100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Risk: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Standart LLM'ler yüzeysel sonuçlar üretir veya "halüsinasyon" (uydurma veri) görür.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200150" y="5893891"/>
            <a:ext cx="441007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Hız: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Haftalar alan, hantal analiz döngüleri.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6581775" y="2922091"/>
            <a:ext cx="3410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Yeni Yöntem: </a:t>
            </a:r>
            <a:r>
              <a:rPr b="1" lang="en-US" sz="19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İçgörü Üretimi 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6581775" y="3274516"/>
            <a:ext cx="3409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OTONOM, HIZLI VE DETERMINISTIK</a:t>
            </a:r>
            <a:endParaRPr/>
          </a:p>
        </p:txBody>
      </p:sp>
      <p:pic>
        <p:nvPicPr>
          <p:cNvPr descr="image.png" id="106" name="Google Shape;106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901362" y="30697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6867525" y="3684091"/>
            <a:ext cx="44100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Süreç: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Uçtan uca otonom. Uzman bir analistin mantıksal sürecini kodsuz simüle eder.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867525" y="4788991"/>
            <a:ext cx="44100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Güvenlik: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Sadece gerçek verilere dayalı deterministik ve matematiksel karar motoru.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867525" y="5893891"/>
            <a:ext cx="44100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Hız: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Saniyeler içinde harekete geçirilebilir üst düzey yönetici özeti.</a:t>
            </a:r>
            <a:endParaRPr/>
          </a:p>
        </p:txBody>
      </p:sp>
      <p:pic>
        <p:nvPicPr>
          <p:cNvPr descr="image.png" id="110" name="Google Shape;110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4400" y="3726953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4400" y="4831853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4400" y="5936753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81775" y="372695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81775" y="483185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81775" y="5936753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6883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571500" y="571500"/>
            <a:ext cx="10111263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Sistemin Temeli: </a:t>
            </a:r>
            <a:r>
              <a:rPr b="0" i="0" lang="en-US" sz="3450" u="none" cap="none" strike="noStrike">
                <a:solidFill>
                  <a:srgbClr val="DEFF9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LLM-Optimize Edilmiş Veritabanı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571500" y="1148655"/>
            <a:ext cx="904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Yapay zekanın mantıksal çıkarım yapabilmesi için NLP algoritmalarıyla tasarlanmış "açıklayıcı" (verbose) 5 temel tablo yapısı.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047750" y="2068710"/>
            <a:ext cx="481012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Marka Sağlığı (Brand Health)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Performans, Share of Voice (Görünürlük) ve NPS (Net Tavsiye) skorunu ölçer.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047750" y="3268860"/>
            <a:ext cx="481012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Tüketici Yolculuğu (Consumer Journey)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Değerlendirme, Satın Alma, Tavsiye, Şikayet evrelerini matematiksel haritalar.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047750" y="4469010"/>
            <a:ext cx="481012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Duygu Analizi (Emotion Analysis)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Tüketici duygularının yüzdelerini ve anlık 'Baskın Duyguyu' (örn: Öfke) belirler.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047750" y="5669160"/>
            <a:ext cx="481012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Trend Konular (Trending Topics)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Tartışmaları yönlendiren ana faktörleri yüzdelik dilimler halinde kategorize eder.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047750" y="6869310"/>
            <a:ext cx="481012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Demografi (Demographics)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Tüketici duygularını yaş ve cinsiyet kırılımlarıyla eşleştiren ilişkisel köprü tablo.</a:t>
            </a:r>
            <a:endParaRPr/>
          </a:p>
        </p:txBody>
      </p:sp>
      <p:pic>
        <p:nvPicPr>
          <p:cNvPr descr="image.png" id="129" name="Google Shape;12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3078360"/>
            <a:ext cx="526732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972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9743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975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9773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6897885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9749"/>
            <a:ext cx="3492400" cy="3795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79749"/>
            <a:ext cx="3492549" cy="3795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279749"/>
            <a:ext cx="3492400" cy="37957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571500" y="57150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3 Aşamalı Mimari: </a:t>
            </a:r>
            <a:r>
              <a:rPr b="0" i="0" lang="en-US" sz="3450" u="none" cap="none" strike="noStrike">
                <a:solidFill>
                  <a:srgbClr val="60A5F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Sistem Kendi Kendine Nasıl Düşünür?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71500" y="1148655"/>
            <a:ext cx="904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Pasif bir şekilde soruları yanıtlamak yerine, proaktif sorular soran ve bu soruları matematiksel olarak test eden bilişsel motor (Cognitive Pipeline).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581026" y="2289274"/>
            <a:ext cx="3473348" cy="37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4359175" y="2289274"/>
            <a:ext cx="34735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8137476" y="2289274"/>
            <a:ext cx="3473348" cy="3776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97125" y="2622649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75425" y="2622649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53576" y="2622649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914400" y="2622649"/>
            <a:ext cx="1943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1. Hipotez Üretimi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914400" y="2975074"/>
            <a:ext cx="1943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ANALITIK DÜŞÜNCE</a:t>
            </a:r>
            <a:endParaRPr/>
          </a:p>
        </p:txBody>
      </p:sp>
      <p:pic>
        <p:nvPicPr>
          <p:cNvPr descr="image.png" id="153" name="Google Shape;15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44763" y="277028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4692550" y="2622649"/>
            <a:ext cx="1733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2. Sorgu Aracısı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692550" y="2975074"/>
            <a:ext cx="1733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DETERMINISTIK TEST</a:t>
            </a:r>
            <a:endParaRPr/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08775" y="277028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8470850" y="2622649"/>
            <a:ext cx="1962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3. Self-Correction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470850" y="2975074"/>
            <a:ext cx="1962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KENDI KENDINI DÜZELTME</a:t>
            </a:r>
            <a:endParaRPr/>
          </a:p>
        </p:txBody>
      </p:sp>
      <p:pic>
        <p:nvPicPr>
          <p:cNvPr descr="image.png" id="159" name="Google Shape;15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901213" y="277028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/>
        </p:nvSpPr>
        <p:spPr>
          <a:xfrm>
            <a:off x="914400" y="3289399"/>
            <a:ext cx="28066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Üst Düzey Üretici (HL-G):</a:t>
            </a: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Yaratıcı iş soruları üretir. </a:t>
            </a:r>
            <a:r>
              <a:rPr b="0" i="1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(Örn: Tedarik sorunları duygusal bağı nasıl etkiliyor?)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Alt Düzey Üretici (LL-G):</a:t>
            </a: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Bu büyük vizyonu, şemada doğrudan çözülebilecek alt sorulara böler.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4692550" y="3289399"/>
            <a:ext cx="2806749" cy="2443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Oluşturulan doğal dildeki alt sorular, LLM hafızasından uydurma cevaplar vermek yerine </a:t>
            </a:r>
            <a:r>
              <a:rPr b="1" i="0" lang="en-US" sz="14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doğrudan çalıştırılabilir SQL kodlarına</a:t>
            </a: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çevrilir.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Bu kodlar veritabanında çalıştırılarak iddialar ampirik olarak test edilir.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8470850" y="3289399"/>
            <a:ext cx="28066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Eğer yapay zekanın yazdığı kod veritabanında hata verirse, sistem hatayı okur, </a:t>
            </a:r>
            <a:r>
              <a:rPr b="1" i="0" lang="en-US" sz="14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kodu otonom olarak yeniden yazar</a:t>
            </a: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ve çalışana kadar dener.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Ardından sayısal veriler doğal dil cümlelerine çevrilerek doğrulanır.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7735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571500" y="571500"/>
            <a:ext cx="9501187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En Kritik Aşama: </a:t>
            </a:r>
            <a:r>
              <a:rPr b="0" i="0" lang="en-US" sz="3450" u="none" cap="none" strike="noStrike">
                <a:solidFill>
                  <a:srgbClr val="DEFF9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Sıfır Halüsinasyon Filtresi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571500" y="1148655"/>
            <a:ext cx="904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İddiaları orijinal SQL verileriyle çarpıştıran ve en ufak bir uydurmayı (halüsinasyonu) anında reddeden güvenlik kalkanı.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047750" y="2091630"/>
            <a:ext cx="481012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Güvenlik ve Çelişki Denetimi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Sistem, veritabanından çektiği kesin sayısal sonuçları, ürettiği taslak yönetici özeti metniyle karşılaştırır.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047750" y="3291780"/>
            <a:ext cx="481012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Anında Reddetme (Rejection)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Örneğin; veri tabanı sadece yaş grubunu belirtirken, sistem taslak metne "erkekler" kelimesini uydurursa, Dedektör (Algorithm 1) bu iddiayı reddeder.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047750" y="4777680"/>
            <a:ext cx="481012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İteratif Yansıma (Iterative Reflection)</a:t>
            </a:r>
            <a:r>
              <a:rPr b="0" i="0" lang="en-US" sz="1500" u="none" cap="none" strike="noStrik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Hatalı taslak metin, modele bir eleştiri (critique) olarak geri sunulur. Sistem, varsayımları silip tamamen gerçeğe sadık kalana kadar metni baştan yazar.</a:t>
            </a:r>
            <a:endParaRPr/>
          </a:p>
        </p:txBody>
      </p:sp>
      <p:pic>
        <p:nvPicPr>
          <p:cNvPr descr="image.png" id="174" name="Google Shape;17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86880"/>
            <a:ext cx="526732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2020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203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0625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7"/>
          <p:cNvPicPr preferRelativeResize="0"/>
          <p:nvPr/>
        </p:nvPicPr>
        <p:blipFill rotWithShape="1">
          <a:blip r:embed="rId3">
            <a:alphaModFix/>
          </a:blip>
          <a:srcRect b="-8507" l="0" r="-8507" t="0"/>
          <a:stretch/>
        </p:blipFill>
        <p:spPr>
          <a:xfrm>
            <a:off x="0" y="-247000"/>
            <a:ext cx="14236499" cy="800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4">
            <a:alphaModFix/>
          </a:blip>
          <a:srcRect b="12656" l="0" r="9379" t="0"/>
          <a:stretch/>
        </p:blipFill>
        <p:spPr>
          <a:xfrm>
            <a:off x="571500" y="2068701"/>
            <a:ext cx="4876800" cy="23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5">
            <a:alphaModFix/>
          </a:blip>
          <a:srcRect b="6324" l="2528" r="6851" t="6332"/>
          <a:stretch/>
        </p:blipFill>
        <p:spPr>
          <a:xfrm>
            <a:off x="6238875" y="2068701"/>
            <a:ext cx="4876800" cy="23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6">
            <a:alphaModFix/>
          </a:blip>
          <a:srcRect b="12656" l="0" r="9379" t="0"/>
          <a:stretch/>
        </p:blipFill>
        <p:spPr>
          <a:xfrm>
            <a:off x="571500" y="4512475"/>
            <a:ext cx="4876800" cy="23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7">
            <a:alphaModFix/>
          </a:blip>
          <a:srcRect b="18441" l="0" r="16646" t="0"/>
          <a:stretch/>
        </p:blipFill>
        <p:spPr>
          <a:xfrm>
            <a:off x="6238900" y="4526150"/>
            <a:ext cx="4803900" cy="23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571500" y="571500"/>
            <a:ext cx="10471308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Sistemin Nihai Çıktısı: </a:t>
            </a:r>
            <a:r>
              <a:rPr b="0" i="0" lang="en-US" sz="3450" u="none" cap="none" strike="noStrike">
                <a:solidFill>
                  <a:srgbClr val="DEFF9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Doğrulanmış Makro-Örüntüler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571500" y="1148655"/>
            <a:ext cx="904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3A3A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Yapay zeka tavsiye vermez; şirket yöneticilerinin stratejik kararlar almasını sağlayacak sarsılmaz veri bağlantıları kurar.</a:t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581050" y="2083652"/>
            <a:ext cx="53625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200938" y="2096463"/>
            <a:ext cx="4295400" cy="19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581074" y="4522050"/>
            <a:ext cx="4876800" cy="23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904600" y="4232425"/>
            <a:ext cx="5100300" cy="24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3" name="Google Shape;19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9613" y="229982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498275" y="219253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51613" y="463357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72550" y="4633586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914400" y="2411607"/>
            <a:ext cx="3009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Lojistik ve Öfke Krizi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914400" y="2764035"/>
            <a:ext cx="3476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DEMOGRAFI X TREND X TÜKETICI YOLCULUĞU</a:t>
            </a:r>
            <a:endParaRPr/>
          </a:p>
        </p:txBody>
      </p:sp>
      <p:pic>
        <p:nvPicPr>
          <p:cNvPr descr="image.png" id="199" name="Google Shape;19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08675" y="241159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6581775" y="2411610"/>
            <a:ext cx="3286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Görünürlük ve Sadakat Kaybı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6581775" y="2764035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MARKA SAĞLIĞI X TÜKETICI YOLCULUĞU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778325" y="4646098"/>
            <a:ext cx="3009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Arayüz ve Dönüşüm İvmesi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778325" y="5064323"/>
            <a:ext cx="3009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DUYGU ANALIZI X TREND KONULAR</a:t>
            </a:r>
            <a:endParaRPr/>
          </a:p>
        </p:txBody>
      </p:sp>
      <p:pic>
        <p:nvPicPr>
          <p:cNvPr descr="image.png" id="204" name="Google Shape;20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flipH="1" rot="10800000">
            <a:off x="4870699" y="478121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6511988" y="4680611"/>
            <a:ext cx="3419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Kampanya ve Demografik Etki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6511975" y="5064361"/>
            <a:ext cx="3419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8888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TÜKETICI YOLCULUĞU X DEMOGRAFI</a:t>
            </a:r>
            <a:endParaRPr/>
          </a:p>
        </p:txBody>
      </p:sp>
      <p:pic>
        <p:nvPicPr>
          <p:cNvPr descr="image.png" id="207" name="Google Shape;207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38501" y="4763985"/>
            <a:ext cx="19202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 txBox="1"/>
          <p:nvPr/>
        </p:nvSpPr>
        <p:spPr>
          <a:xfrm>
            <a:off x="914400" y="3078360"/>
            <a:ext cx="4695825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"18-24 yaş arası tüketicilerdeki </a:t>
            </a:r>
            <a:r>
              <a:rPr b="1" i="0" lang="en-US" sz="14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%42'lik öfke artışı</a:t>
            </a: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 doğrudan %16 hacme ulaşan 'tedarik zinciri aksaklıkları' konusuyla eşleşmektedir. Bu lojistik sorun, tüketici yolculuğunda 'Şikayet' evresini %55 seviyesine taşıyan ana faktördür."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6581775" y="3078360"/>
            <a:ext cx="469582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"Markanın pazar görünürlüğü (Share of Voice) </a:t>
            </a:r>
            <a:r>
              <a:rPr b="1" i="0" lang="en-US" sz="14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%34</a:t>
            </a: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gibi yüksek bir seviyede olmasına rağmen Net Tavsiye Skoru (NPS) </a:t>
            </a:r>
            <a:r>
              <a:rPr b="1" i="0" lang="en-US" sz="14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%16'da</a:t>
            </a: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kalmıştır. 'Satın Alma' evresindeki fiyat hassasiyeti marka savunuculuğunu engellemektedir."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61950" y="5355352"/>
            <a:ext cx="4695900" cy="15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"Tüketici yolculuğunun 'Değerlendirme' evresindeki pozitif duygu hacmi son çeyrekte hızla artmıştır. Bu yükseliş ivmesi, ağırlıklı olarak </a:t>
            </a:r>
            <a:r>
              <a:rPr b="1" i="0" lang="en-US" sz="14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'online alışveriş deneyimi ve web arayüzü'</a:t>
            </a: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hakkındaki olumlu tartışmalarla korelasyon içindedir."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511975" y="5320900"/>
            <a:ext cx="4533900" cy="15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"'Satın Alma' evresinde yaşanan </a:t>
            </a:r>
            <a:r>
              <a:rPr b="1" i="0" lang="en-US" sz="142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%25'lik büyüme</a:t>
            </a:r>
            <a:r>
              <a:rPr b="0" i="0" lang="en-US" sz="1425" u="none" cap="none" strike="noStrike">
                <a:solidFill>
                  <a:srgbClr val="CCCC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, 25-34 yaş kadın demografisindeki 'Sevinç' duygusuyla paralellik göstermektedir. Uygulanan özel indirim kampanyalarına yönelik tartışmalar bu büyümenin ana itici gücü olmuştur."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